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94360"/>
            <a:ext cx="1828800" cy="365760"/>
          </a:xfrm>
          <a:prstGeom prst="round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58368"/>
            <a:ext cx="1645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CA-3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515600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 Display"/>
              </a:rPr>
              <a:t>MediFlow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743200"/>
            <a:ext cx="978408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500" b="1">
                <a:solidFill>
                  <a:srgbClr val="A7F3D0"/>
                </a:solidFill>
                <a:latin typeface="Aptos Display"/>
              </a:rPr>
              <a:t>Intelligent Hospital Workflow
Coordination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77639"/>
            <a:ext cx="896112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A synthetic-data proof of concept for appointment coordination,
conflict detection, recommendations and staff approval.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532120"/>
            <a:ext cx="1691640" cy="457200"/>
          </a:xfrm>
          <a:prstGeom prst="roundRect">
            <a:avLst/>
          </a:prstGeom>
          <a:solidFill>
            <a:srgbClr val="1E4252"/>
          </a:solidFill>
          <a:ln w="10160">
            <a:solidFill>
              <a:srgbClr val="40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641848"/>
            <a:ext cx="1600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A7F3D0"/>
                </a:solidFill>
                <a:latin typeface="Aptos"/>
              </a:rPr>
              <a:t>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5532120"/>
            <a:ext cx="1691640" cy="457200"/>
          </a:xfrm>
          <a:prstGeom prst="roundRect">
            <a:avLst/>
          </a:prstGeom>
          <a:solidFill>
            <a:srgbClr val="1E4252"/>
          </a:solidFill>
          <a:ln w="10160">
            <a:solidFill>
              <a:srgbClr val="40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5641848"/>
            <a:ext cx="1600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A7F3D0"/>
                </a:solidFill>
                <a:latin typeface="Aptos"/>
              </a:rPr>
              <a:t>ANALYZE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5532120"/>
            <a:ext cx="1691640" cy="457200"/>
          </a:xfrm>
          <a:prstGeom prst="roundRect">
            <a:avLst/>
          </a:prstGeom>
          <a:solidFill>
            <a:srgbClr val="1E4252"/>
          </a:solidFill>
          <a:ln w="10160">
            <a:solidFill>
              <a:srgbClr val="40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5641848"/>
            <a:ext cx="1600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A7F3D0"/>
                </a:solidFill>
                <a:latin typeface="Aptos"/>
              </a:rPr>
              <a:t>EXECUTE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5532120"/>
            <a:ext cx="1691640" cy="457200"/>
          </a:xfrm>
          <a:prstGeom prst="roundRect">
            <a:avLst/>
          </a:prstGeom>
          <a:solidFill>
            <a:srgbClr val="1E4252"/>
          </a:solidFill>
          <a:ln w="10160">
            <a:solidFill>
              <a:srgbClr val="40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5641848"/>
            <a:ext cx="1600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A7F3D0"/>
                </a:solidFill>
                <a:latin typeface="Aptos"/>
              </a:rPr>
              <a:t>VALIDATE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5532120"/>
            <a:ext cx="1691640" cy="457200"/>
          </a:xfrm>
          <a:prstGeom prst="roundRect">
            <a:avLst/>
          </a:prstGeom>
          <a:solidFill>
            <a:srgbClr val="1E4252"/>
          </a:solidFill>
          <a:ln w="10160">
            <a:solidFill>
              <a:srgbClr val="40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5641848"/>
            <a:ext cx="1600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A7F3D0"/>
                </a:solidFill>
                <a:latin typeface="Aptos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00600"/>
            <a:ext cx="9601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Vanya Puranik  •  Siya Thakur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73952"/>
            <a:ext cx="82296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1">
                <a:solidFill>
                  <a:srgbClr val="A7F3D0"/>
                </a:solidFill>
                <a:latin typeface="Aptos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01 / PROBLEM &amp;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12A3C"/>
                </a:solidFill>
                <a:latin typeface="Aptos Display"/>
              </a:rPr>
              <a:t>Hospital coordination has dependent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7899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E7784"/>
                </a:solidFill>
                <a:latin typeface="Aptos"/>
              </a:rPr>
              <a:t>The PoC focuses on administrative operations, not diagnosis or treatment.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92240"/>
            <a:ext cx="6400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1">
                <a:solidFill>
                  <a:srgbClr val="5E7784"/>
                </a:solidFill>
                <a:latin typeface="Aptos"/>
              </a:rPr>
              <a:t>02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1">
                <a:solidFill>
                  <a:srgbClr val="5E7784"/>
                </a:solidFill>
                <a:latin typeface="Aptos"/>
              </a:rPr>
              <a:t>MEDIFLOW AI  •  CA-3  •  SYNTHETIC-DATA PROOF OF CONCEPT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5204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73152" cy="1508760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130552"/>
            <a:ext cx="3154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2A3C"/>
                </a:solidFill>
                <a:latin typeface="Aptos"/>
              </a:rPr>
              <a:t>Scheduling clashes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32888"/>
            <a:ext cx="3136392" cy="82295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50" b="0">
                <a:solidFill>
                  <a:srgbClr val="5E7784"/>
                </a:solidFill>
                <a:latin typeface="Aptos"/>
              </a:rPr>
              <a:t>Two active appointments can overlap for the same doctor on the same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35204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965960"/>
            <a:ext cx="73152" cy="1508760"/>
          </a:xfrm>
          <a:prstGeom prst="rect">
            <a:avLst/>
          </a:prstGeom>
          <a:solidFill>
            <a:srgbClr val="F4B860"/>
          </a:solidFill>
          <a:ln w="10160">
            <a:solidFill>
              <a:srgbClr val="F4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130552"/>
            <a:ext cx="3154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2A3C"/>
                </a:solidFill>
                <a:latin typeface="Aptos"/>
              </a:rPr>
              <a:t>Repeated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532888"/>
            <a:ext cx="3136392" cy="82295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50" b="0">
                <a:solidFill>
                  <a:srgbClr val="5E7784"/>
                </a:solidFill>
                <a:latin typeface="Aptos"/>
              </a:rPr>
              <a:t>Requests require checks against current records and existing bookings.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65960"/>
            <a:ext cx="35204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965960"/>
            <a:ext cx="73152" cy="1508760"/>
          </a:xfrm>
          <a:prstGeom prst="rect">
            <a:avLst/>
          </a:prstGeom>
          <a:solidFill>
            <a:srgbClr val="4891B2"/>
          </a:solidFill>
          <a:ln w="10160">
            <a:solidFill>
              <a:srgbClr val="4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130552"/>
            <a:ext cx="3154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2A3C"/>
                </a:solidFill>
                <a:latin typeface="Aptos"/>
              </a:rPr>
              <a:t>Fragmented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532888"/>
            <a:ext cx="3136392" cy="82295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50" b="0">
                <a:solidFill>
                  <a:srgbClr val="5E7784"/>
                </a:solidFill>
                <a:latin typeface="Aptos"/>
              </a:rPr>
              <a:t>Patient and appointment information must be considered together.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77639"/>
            <a:ext cx="10698480" cy="1417320"/>
          </a:xfrm>
          <a:prstGeom prst="roundRect">
            <a:avLst/>
          </a:prstGeom>
          <a:solidFill>
            <a:srgbClr val="E2F3F2"/>
          </a:solidFill>
          <a:ln w="10160">
            <a:solidFill>
              <a:srgbClr val="BE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24528"/>
            <a:ext cx="100584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PROJECT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17720"/>
            <a:ext cx="996696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12A3C"/>
                </a:solidFill>
                <a:latin typeface="Aptos"/>
              </a:rPr>
              <a:t>Coordinate request capture, schedule checks, recommendations and human review in one demonstrable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02 /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12A3C"/>
                </a:solidFill>
                <a:latin typeface="Aptos Display"/>
              </a:rPr>
              <a:t>One bounded workflow from request to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7899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E7784"/>
                </a:solidFill>
                <a:latin typeface="Aptos"/>
              </a:rPr>
              <a:t>MediFlow AI supports staff by preparing validated recommendations on synthetic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92240"/>
            <a:ext cx="6400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1">
                <a:solidFill>
                  <a:srgbClr val="5E7784"/>
                </a:solidFill>
                <a:latin typeface="Aptos"/>
              </a:rPr>
              <a:t>03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1">
                <a:solidFill>
                  <a:srgbClr val="5E7784"/>
                </a:solidFill>
                <a:latin typeface="Aptos"/>
              </a:rPr>
              <a:t>MEDIFLOW AI  •  CA-3  •  SYNTHETIC-DATA PROOF OF CONCEPT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2084831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450592"/>
            <a:ext cx="5486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34640"/>
            <a:ext cx="17830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2A3C"/>
                </a:solidFill>
                <a:latin typeface="Aptos"/>
              </a:rPr>
              <a:t>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264408"/>
            <a:ext cx="178308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E7784"/>
                </a:solidFill>
                <a:latin typeface="Aptos"/>
              </a:rPr>
              <a:t>Staff enters a request in Streamlit.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6896" y="2971800"/>
            <a:ext cx="256032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2240280"/>
            <a:ext cx="2084831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6664" y="2450592"/>
            <a:ext cx="5486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2834640"/>
            <a:ext cx="17830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2A3C"/>
                </a:solidFill>
                <a:latin typeface="Aptos"/>
              </a:rP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3264408"/>
            <a:ext cx="178308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E7784"/>
                </a:solidFill>
                <a:latin typeface="Aptos"/>
              </a:rPr>
              <a:t>Read synthetic patient and schedule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2971800"/>
            <a:ext cx="256032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21224" y="2240280"/>
            <a:ext cx="2084831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85816" y="2450592"/>
            <a:ext cx="5486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2834640"/>
            <a:ext cx="17830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2A3C"/>
                </a:solidFill>
                <a:latin typeface="Aptos"/>
              </a:rPr>
              <a:t>Recommend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5816" y="3264408"/>
            <a:ext cx="178308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E7784"/>
                </a:solidFill>
                <a:latin typeface="Aptos"/>
              </a:rPr>
              <a:t>Check slots and prepare a draft.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971800"/>
            <a:ext cx="256032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0376" y="2240280"/>
            <a:ext cx="2084831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44968" y="2450592"/>
            <a:ext cx="5486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2834640"/>
            <a:ext cx="17830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2A3C"/>
                </a:solidFill>
                <a:latin typeface="Aptos"/>
              </a:rPr>
              <a:t>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8" y="3264408"/>
            <a:ext cx="178308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E7784"/>
                </a:solidFill>
                <a:latin typeface="Aptos"/>
              </a:rPr>
              <a:t>Critic checks deterministic constraints.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2971800"/>
            <a:ext cx="256032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39528" y="2240280"/>
            <a:ext cx="2084831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20" y="2450592"/>
            <a:ext cx="5486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2834640"/>
            <a:ext cx="17830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2A3C"/>
                </a:solidFill>
                <a:latin typeface="Aptos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3264408"/>
            <a:ext cx="178308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E7784"/>
                </a:solidFill>
                <a:latin typeface="Aptos"/>
              </a:rPr>
              <a:t>Human approves or rejects the proposal.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754880"/>
            <a:ext cx="10241280" cy="777240"/>
          </a:xfrm>
          <a:prstGeom prst="roundRect">
            <a:avLst/>
          </a:prstGeom>
          <a:solidFill>
            <a:srgbClr val="E2F3F2"/>
          </a:solidFill>
          <a:ln w="10160">
            <a:solidFill>
              <a:srgbClr val="BE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4983480"/>
            <a:ext cx="97840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12A3C"/>
                </a:solidFill>
                <a:latin typeface="Aptos"/>
              </a:rPr>
              <a:t>Control principle: a validation pass is not approval; consequential changes remain human-reviewed.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03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12A3C"/>
                </a:solidFill>
                <a:latin typeface="Aptos Display"/>
              </a:rPr>
              <a:t>Components and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7899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E7784"/>
                </a:solidFill>
                <a:latin typeface="Aptos"/>
              </a:rPr>
              <a:t>Custom Python workflow roles; no external LLM or LangGraph dependency is claimed.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92240"/>
            <a:ext cx="6400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1">
                <a:solidFill>
                  <a:srgbClr val="5E7784"/>
                </a:solidFill>
                <a:latin typeface="Aptos"/>
              </a:rPr>
              <a:t>04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1">
                <a:solidFill>
                  <a:srgbClr val="5E7784"/>
                </a:solidFill>
                <a:latin typeface="Aptos"/>
              </a:rPr>
              <a:t>MEDIFLOW AI  •  CA-3  •  SYNTHETIC-DATA PROOF OF CONCEPT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01168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12A3C"/>
                </a:solidFill>
                <a:latin typeface="Aptos"/>
              </a:rPr>
              <a:t>Streamlit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58568"/>
            <a:ext cx="18288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E7784"/>
                </a:solidFill>
                <a:latin typeface="Aptos"/>
              </a:rPr>
              <a:t>Capture + display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828800"/>
            <a:ext cx="201168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938528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12A3C"/>
                </a:solidFill>
                <a:latin typeface="Aptos"/>
              </a:rPr>
              <a:t>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258568"/>
            <a:ext cx="18288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E7784"/>
                </a:solidFill>
                <a:latin typeface="Aptos"/>
              </a:rPr>
              <a:t>Coordinate steps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828800"/>
            <a:ext cx="201168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1938528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12A3C"/>
                </a:solidFill>
                <a:latin typeface="Aptos"/>
              </a:rPr>
              <a:t>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258568"/>
            <a:ext cx="18288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E7784"/>
                </a:solidFill>
                <a:latin typeface="Aptos"/>
              </a:rPr>
              <a:t>Inspect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28800"/>
            <a:ext cx="201168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938528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12A3C"/>
                </a:solidFill>
                <a:latin typeface="Aptos"/>
              </a:rPr>
              <a:t>Executor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258568"/>
            <a:ext cx="18288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E7784"/>
                </a:solidFill>
                <a:latin typeface="Aptos"/>
              </a:rPr>
              <a:t>Draft changes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657600"/>
            <a:ext cx="201168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3767328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12A3C"/>
                </a:solidFill>
                <a:latin typeface="Aptos"/>
              </a:rPr>
              <a:t>Critic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4087368"/>
            <a:ext cx="18288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E7784"/>
                </a:solidFill>
                <a:latin typeface="Aptos"/>
              </a:rPr>
              <a:t>Validate 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3657600"/>
            <a:ext cx="228600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59" y="3767328"/>
            <a:ext cx="21031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12A3C"/>
                </a:solidFill>
                <a:latin typeface="Aptos"/>
              </a:rPr>
              <a:t>Human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59" y="4087368"/>
            <a:ext cx="21031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E7784"/>
                </a:solidFill>
                <a:latin typeface="Aptos"/>
              </a:rPr>
              <a:t>Approve / reject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08760" y="3657600"/>
            <a:ext cx="228600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E7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0200" y="3767328"/>
            <a:ext cx="21031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12A3C"/>
                </a:solidFill>
                <a:latin typeface="Aptos"/>
              </a:rPr>
              <a:t>Synthetic CSVs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087368"/>
            <a:ext cx="21031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E7784"/>
                </a:solidFill>
                <a:latin typeface="Aptos"/>
              </a:rPr>
              <a:t>Patients + appointments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97480" y="2240280"/>
            <a:ext cx="457200" cy="0"/>
          </a:xfrm>
          <a:prstGeom prst="line">
            <a:avLst/>
          </a:prstGeom>
          <a:ln w="2159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166360" y="2240280"/>
            <a:ext cx="457200" cy="0"/>
          </a:xfrm>
          <a:prstGeom prst="line">
            <a:avLst/>
          </a:prstGeom>
          <a:ln w="2159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35240" y="2240280"/>
            <a:ext cx="457200" cy="0"/>
          </a:xfrm>
          <a:prstGeom prst="line">
            <a:avLst/>
          </a:prstGeom>
          <a:ln w="2159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098280" y="2651760"/>
            <a:ext cx="0" cy="1005840"/>
          </a:xfrm>
          <a:prstGeom prst="line">
            <a:avLst/>
          </a:prstGeom>
          <a:ln w="2159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360920" y="4069080"/>
            <a:ext cx="731520" cy="0"/>
          </a:xfrm>
          <a:prstGeom prst="line">
            <a:avLst/>
          </a:prstGeom>
          <a:ln w="2159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3794760" y="4069080"/>
            <a:ext cx="1280160" cy="0"/>
          </a:xfrm>
          <a:prstGeom prst="line">
            <a:avLst/>
          </a:prstGeom>
          <a:ln w="2159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68680" y="5257800"/>
            <a:ext cx="103327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12A3C"/>
                </a:solidFill>
                <a:latin typeface="Aptos"/>
              </a:rPr>
              <a:t>Fail → correction/retry within a bounded loop  •  Pass → pending human review  •  Approved draft → simulated working schedule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04 /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12A3C"/>
                </a:solidFill>
                <a:latin typeface="Aptos Display"/>
              </a:rPr>
              <a:t>A small, testable Python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7899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E7784"/>
                </a:solidFill>
                <a:latin typeface="Aptos"/>
              </a:rPr>
              <a:t>The implementation separates scheduling utilities, workflow state and the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92240"/>
            <a:ext cx="6400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1">
                <a:solidFill>
                  <a:srgbClr val="5E7784"/>
                </a:solidFill>
                <a:latin typeface="Aptos"/>
              </a:rPr>
              <a:t>05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1">
                <a:solidFill>
                  <a:srgbClr val="5E7784"/>
                </a:solidFill>
                <a:latin typeface="Aptos"/>
              </a:rPr>
              <a:t>MEDIFLOW AI  •  CA-3  •  SYNTHETIC-DATA PROOF OF CONCEPT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2120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73152" cy="1325880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93392"/>
            <a:ext cx="4846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2A3C"/>
                </a:solidFill>
                <a:latin typeface="Aptos"/>
              </a:rPr>
              <a:t>backend.py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4828032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50" b="0">
                <a:solidFill>
                  <a:srgbClr val="5E7784"/>
                </a:solidFill>
                <a:latin typeface="Aptos"/>
              </a:rPr>
              <a:t>Loads synthetic data, detects overlaps, applies predefined priority rules and creates draft schedule recommendations.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73152" cy="1325880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993392"/>
            <a:ext cx="4846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2A3C"/>
                </a:solidFill>
                <a:latin typeface="Aptos"/>
              </a:rPr>
              <a:t>workflow.py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395728"/>
            <a:ext cx="4828032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50" b="0">
                <a:solidFill>
                  <a:srgbClr val="5E7784"/>
                </a:solidFill>
                <a:latin typeface="Aptos"/>
              </a:rPr>
              <a:t>Validates new requests, stores proposal state, re-validates approvals and safely persists the simulated working schedule.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40"/>
            <a:ext cx="52120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520440"/>
            <a:ext cx="73152" cy="1325880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685032"/>
            <a:ext cx="4846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2A3C"/>
                </a:solidFill>
                <a:latin typeface="Aptos"/>
              </a:rPr>
              <a:t>agents.py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087368"/>
            <a:ext cx="4828032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50" b="0">
                <a:solidFill>
                  <a:srgbClr val="5E7784"/>
                </a:solidFill>
                <a:latin typeface="Aptos"/>
              </a:rPr>
              <a:t>Implements custom Planner, Research, Executor and Critic roles with a bounded workflow and execution trace.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520440"/>
            <a:ext cx="52120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520440"/>
            <a:ext cx="73152" cy="1325880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685032"/>
            <a:ext cx="4846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2A3C"/>
                </a:solidFill>
                <a:latin typeface="Aptos"/>
              </a:rPr>
              <a:t>app.py + tests/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087368"/>
            <a:ext cx="4828032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50" b="0">
                <a:solidFill>
                  <a:srgbClr val="5E7784"/>
                </a:solidFill>
                <a:latin typeface="Aptos"/>
              </a:rPr>
              <a:t>Streamlit interface with request, schedule repair, agent workflow and approval tabs; automated tests cover core behavior.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257800"/>
            <a:ext cx="10287000" cy="548640"/>
          </a:xfrm>
          <a:prstGeom prst="roundRect">
            <a:avLst/>
          </a:prstGeom>
          <a:solidFill>
            <a:srgbClr val="E2F3F2"/>
          </a:solidFill>
          <a:ln w="10160">
            <a:solidFill>
              <a:srgbClr val="BE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404104"/>
            <a:ext cx="98755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12A3C"/>
                </a:solidFill>
                <a:latin typeface="Aptos"/>
              </a:rPr>
              <a:t>Core libraries: Python • Pandas • Streamlit • Pytest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05 /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12A3C"/>
                </a:solidFill>
                <a:latin typeface="Aptos Display"/>
              </a:rPr>
              <a:t>Validation gates the proposed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7899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E7784"/>
                </a:solidFill>
                <a:latin typeface="Aptos"/>
              </a:rPr>
              <a:t>A proposal is a draft until a human reviewer accepts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92240"/>
            <a:ext cx="6400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1">
                <a:solidFill>
                  <a:srgbClr val="5E7784"/>
                </a:solidFill>
                <a:latin typeface="Aptos"/>
              </a:rPr>
              <a:t>06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1">
                <a:solidFill>
                  <a:srgbClr val="5E7784"/>
                </a:solidFill>
                <a:latin typeface="Aptos"/>
              </a:rPr>
              <a:t>MEDIFLOW AI  •  CA-3  •  SYNTHETIC-DATA PROOF OF CONCEPT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5204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73152" cy="1508760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93392"/>
            <a:ext cx="3154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2A3C"/>
                </a:solidFill>
                <a:latin typeface="Aptos"/>
              </a:rPr>
              <a:t>Request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3136392" cy="82295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50" b="0">
                <a:solidFill>
                  <a:srgbClr val="5E7784"/>
                </a:solidFill>
                <a:latin typeface="Aptos"/>
              </a:rPr>
              <a:t>Required IDs, date, time and duration are checked before a request is queued.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5204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73152" cy="1508760"/>
          </a:xfrm>
          <a:prstGeom prst="rect">
            <a:avLst/>
          </a:prstGeom>
          <a:solidFill>
            <a:srgbClr val="F4B860"/>
          </a:solidFill>
          <a:ln w="10160">
            <a:solidFill>
              <a:srgbClr val="F4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993392"/>
            <a:ext cx="3154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2A3C"/>
                </a:solidFill>
                <a:latin typeface="Aptos"/>
              </a:rPr>
              <a:t>Conflict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95728"/>
            <a:ext cx="3136392" cy="82295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50" b="0">
                <a:solidFill>
                  <a:srgbClr val="5E7784"/>
                </a:solidFill>
                <a:latin typeface="Aptos"/>
              </a:rPr>
              <a:t>The schedule validator checks overlaps and rejects conflicting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28800"/>
            <a:ext cx="35204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828800"/>
            <a:ext cx="73152" cy="1508760"/>
          </a:xfrm>
          <a:prstGeom prst="rect">
            <a:avLst/>
          </a:prstGeom>
          <a:solidFill>
            <a:srgbClr val="4891B2"/>
          </a:solidFill>
          <a:ln w="10160">
            <a:solidFill>
              <a:srgbClr val="4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993392"/>
            <a:ext cx="3154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2A3C"/>
                </a:solidFill>
                <a:latin typeface="Aptos"/>
              </a:rPr>
              <a:t>Approval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395728"/>
            <a:ext cx="3136392" cy="82295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50" b="0">
                <a:solidFill>
                  <a:srgbClr val="5E7784"/>
                </a:solidFill>
                <a:latin typeface="Aptos"/>
              </a:rPr>
              <a:t>Approval re-validates against the current working schedule before saving.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977639"/>
            <a:ext cx="103327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224528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112A3C"/>
                </a:solidFill>
                <a:latin typeface="Aptos"/>
              </a:rPr>
              <a:t>Reported automated test result: 38 passed in 2.57 seconds (project-owner Terminal output, 23 Oct 2026).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257800"/>
            <a:ext cx="100584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E7784"/>
                </a:solidFill>
                <a:latin typeface="Aptos"/>
              </a:rPr>
              <a:t>This is a user-reported test run; it is not a benchmark of clinical outcomes or live-hospital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06 /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12A3C"/>
                </a:solidFill>
                <a:latin typeface="Aptos Display"/>
              </a:rPr>
              <a:t>Suggested live demo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7899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E7784"/>
                </a:solidFill>
                <a:latin typeface="Aptos"/>
              </a:rPr>
              <a:t>Run locally; public deployment is not implied.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92240"/>
            <a:ext cx="6400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1">
                <a:solidFill>
                  <a:srgbClr val="5E7784"/>
                </a:solidFill>
                <a:latin typeface="Aptos"/>
              </a:rPr>
              <a:t>07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1">
                <a:solidFill>
                  <a:srgbClr val="5E7784"/>
                </a:solidFill>
                <a:latin typeface="Aptos"/>
              </a:rPr>
              <a:t>MEDIFLOW AI  •  CA-3  •  SYNTHETIC-DATA PROOF OF CONCEPT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103784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128" y="1883664"/>
            <a:ext cx="384048" cy="384048"/>
          </a:xfrm>
          <a:prstGeom prst="round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56816"/>
            <a:ext cx="365760" cy="14630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83664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12A3C"/>
                </a:solidFill>
                <a:latin typeface="Aptos"/>
              </a:rPr>
              <a:t>Show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01952"/>
            <a:ext cx="73152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E7784"/>
                </a:solidFill>
                <a:latin typeface="Aptos"/>
              </a:rPr>
              <a:t>Open dashboard and identify the initial synthetic conflict.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587752"/>
            <a:ext cx="103784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" y="2688336"/>
            <a:ext cx="384048" cy="384048"/>
          </a:xfrm>
          <a:prstGeom prst="round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2761488"/>
            <a:ext cx="365760" cy="14630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688336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12A3C"/>
                </a:solidFill>
                <a:latin typeface="Aptos"/>
              </a:rPr>
              <a:t>Check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706624"/>
            <a:ext cx="73152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E7784"/>
                </a:solidFill>
                <a:latin typeface="Aptos"/>
              </a:rPr>
              <a:t>Try one free slot and one invalid/conflicting request.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392424"/>
            <a:ext cx="103784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4128" y="3493008"/>
            <a:ext cx="384048" cy="384048"/>
          </a:xfrm>
          <a:prstGeom prst="round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566160"/>
            <a:ext cx="365760" cy="14630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493008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12A3C"/>
                </a:solidFill>
                <a:latin typeface="Aptos"/>
              </a:rPr>
              <a:t>Generate a 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511296"/>
            <a:ext cx="73152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E7784"/>
                </a:solidFill>
                <a:latin typeface="Aptos"/>
              </a:rPr>
              <a:t>Show proposal changes and Critic validation.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197096"/>
            <a:ext cx="103784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24128" y="4297680"/>
            <a:ext cx="384048" cy="384048"/>
          </a:xfrm>
          <a:prstGeom prst="round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1" y="4370832"/>
            <a:ext cx="365760" cy="14630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297680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12A3C"/>
                </a:solidFill>
                <a:latin typeface="Aptos"/>
              </a:rPr>
              <a:t>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315968"/>
            <a:ext cx="73152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E7784"/>
                </a:solidFill>
                <a:latin typeface="Aptos"/>
              </a:rPr>
              <a:t>Approve or reject; show status and updated simulated schedule.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001768"/>
            <a:ext cx="103784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24128" y="5102352"/>
            <a:ext cx="384048" cy="384048"/>
          </a:xfrm>
          <a:prstGeom prst="round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1" y="5175504"/>
            <a:ext cx="365760" cy="14630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102352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12A3C"/>
                </a:solidFill>
                <a:latin typeface="Aptos"/>
              </a:rPr>
              <a:t>Agent trace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5120640"/>
            <a:ext cx="73152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E7784"/>
                </a:solidFill>
                <a:latin typeface="Aptos"/>
              </a:rPr>
              <a:t>Run the custom workflow and explain the steps and retry bound.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A7F3D0"/>
                </a:solidFill>
                <a:latin typeface="Aptos"/>
              </a:rPr>
              <a:t>07 / SCOPE, LIMITATIONS &amp;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69848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A responsible administrative PoC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663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3152" cy="1051560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93392"/>
            <a:ext cx="4800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2A3C"/>
                </a:solidFill>
                <a:latin typeface="Aptos"/>
              </a:rPr>
              <a:t>What it demonstrates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95728"/>
            <a:ext cx="4782312" cy="36575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50" b="0">
                <a:solidFill>
                  <a:srgbClr val="5E7784"/>
                </a:solidFill>
                <a:latin typeface="Aptos"/>
              </a:rPr>
              <a:t>Conflict detection, administrative rules, draft recommendations, validation and human approval.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1663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828800"/>
            <a:ext cx="73152" cy="1051560"/>
          </a:xfrm>
          <a:prstGeom prst="rect">
            <a:avLst/>
          </a:prstGeom>
          <a:solidFill>
            <a:srgbClr val="F4B860"/>
          </a:solidFill>
          <a:ln w="10160">
            <a:solidFill>
              <a:srgbClr val="F4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993392"/>
            <a:ext cx="4800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2A3C"/>
                </a:solidFill>
                <a:latin typeface="Aptos"/>
              </a:rPr>
              <a:t>What it does not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395728"/>
            <a:ext cx="4782312" cy="36575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50" b="0">
                <a:solidFill>
                  <a:srgbClr val="5E7784"/>
                </a:solidFill>
                <a:latin typeface="Aptos"/>
              </a:rPr>
              <a:t>No real patient data, clinical triage, diagnosis, treatment, live hospital integration or public deployment.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A7F3D0"/>
                </a:solidFill>
                <a:latin typeface="Aptos"/>
              </a:rP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Capture a short demo recording, verify the live UI after packaging, upload the repository to GitHub, and submit the PPTX + DOCX + codebase ZIP as required.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1">
                <a:solidFill>
                  <a:srgbClr val="A7F3D0"/>
                </a:solidFill>
                <a:latin typeface="Aptos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73952"/>
            <a:ext cx="82296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1">
                <a:solidFill>
                  <a:srgbClr val="A7F3D0"/>
                </a:solidFill>
                <a:latin typeface="Aptos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